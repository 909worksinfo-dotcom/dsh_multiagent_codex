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RECURSIVE SELF-IMPROVEMENT · INVESTMENT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69494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6FBFF"/>
                </a:solidFill>
                <a:latin typeface="Aptos Display"/>
              </a:rPr>
              <a:t>RSI：从模型升级到
改进改进过程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90088"/>
            <a:ext cx="6309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8FA7C2"/>
                </a:solidFill>
                <a:latin typeface="Aptos"/>
              </a:rPr>
              <a:t>硅谷前沿研究、技术路径与全球产业地图
面向 VC 与 AI 行业从业者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68112"/>
            <a:ext cx="5852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2026.08 · 30 SLIDES · RESEARCH EDITION</a:t>
            </a:r>
          </a:p>
        </p:txBody>
      </p:sp>
      <p:sp>
        <p:nvSpPr>
          <p:cNvPr id="7" name="Oval 6"/>
          <p:cNvSpPr/>
          <p:nvPr/>
        </p:nvSpPr>
        <p:spPr>
          <a:xfrm>
            <a:off x="7863840" y="1783080"/>
            <a:ext cx="3200400" cy="3200400"/>
          </a:xfrm>
          <a:prstGeom prst="ellipse">
            <a:avLst/>
          </a:prstGeom>
          <a:noFill/>
          <a:ln w="1905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158191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1" y="168249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PROPOSE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07040" y="3172968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4472" y="327355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EVALUATE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78231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1" y="488289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172968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327355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27248"/>
            <a:ext cx="1371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49D6C9"/>
                </a:solidFill>
                <a:latin typeface="Aptos Display"/>
              </a:rPr>
              <a:t>RSI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EXECUTIVE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近期价值在闭环自动化，长期期权在元级自修改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93008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49D6C9"/>
                </a:solidFill>
                <a:latin typeface="Aptos Display"/>
              </a:rPr>
              <a:t>0→2Y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14600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6FBFF"/>
                </a:solidFill>
                <a:latin typeface="Aptos"/>
              </a:rPr>
              <a:t>可验证垂直闭环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090672"/>
            <a:ext cx="3017520" cy="2377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代码、数学、芯片、实验设计等拥有低成本 verifier 的领域最先产生 ROI。
投资：Agent evaluation、sandbox、trajectory data。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93008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8288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B454"/>
                </a:solidFill>
                <a:latin typeface="Aptos Display"/>
              </a:rPr>
              <a:t>2→5Y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6FBFF"/>
                </a:solidFill>
                <a:latin typeface="Aptos"/>
              </a:rPr>
              <a:t>跨任务 Agentic RSI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090672"/>
            <a:ext cx="3017520" cy="2377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系统重写工作流、工具与记忆，并把改进迁移到相邻任务。
门槛：信用分配、隐藏评测、可回滚部署。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00200"/>
            <a:ext cx="3493008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8288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6B6B"/>
                </a:solidFill>
                <a:latin typeface="Aptos Display"/>
              </a:rPr>
              <a:t>5Y+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514600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6FBFF"/>
                </a:solidFill>
                <a:latin typeface="Aptos"/>
              </a:rPr>
              <a:t>元级递归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3090672"/>
            <a:ext cx="3017520" cy="2377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系统改写学习算法、训练配方甚至架构；潜力最大，当前缺乏单调提升保证。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DEFINITION &amp;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RSI 不是持续学习、AutoML 或普通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484632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"/>
              </a:rPr>
              <a:t>系统利用自身产出，改进产生下一次改进的机制；改进后的系统再重复该过程。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475488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49D6C9"/>
                </a:solidFill>
                <a:latin typeface="Courier New"/>
              </a:rPr>
              <a:t>RSI = self-reference + closed-loop evaluation + retained change + repeated iteration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627632"/>
            <a:ext cx="5715000" cy="731520"/>
          </a:xfrm>
          <a:prstGeom prst="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773936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6FBFF"/>
                </a:solidFill>
                <a:latin typeface="Aptos"/>
              </a:rPr>
              <a:t>Continual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73936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9D6C9"/>
                </a:solidFill>
                <a:latin typeface="Aptos"/>
              </a:rPr>
              <a:t>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560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DDEBFA"/>
                </a:solidFill>
                <a:latin typeface="Aptos"/>
              </a:rPr>
              <a:t>吸收新数据不等于改进学习机制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450592"/>
            <a:ext cx="5715000" cy="731520"/>
          </a:xfrm>
          <a:prstGeom prst="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596896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6FBFF"/>
                </a:solidFill>
                <a:latin typeface="Aptos"/>
              </a:rPr>
              <a:t>AutoML / 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9D6C9"/>
                </a:solidFill>
                <a:latin typeface="Aptos"/>
              </a:rPr>
              <a:t>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560320"/>
            <a:ext cx="2560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DDEBFA"/>
                </a:solidFill>
                <a:latin typeface="Aptos"/>
              </a:rPr>
              <a:t>外部固定搜索器通常不是自我改进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273552"/>
            <a:ext cx="5715000" cy="731520"/>
          </a:xfrm>
          <a:prstGeom prst="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419856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6FBFF"/>
                </a:solidFill>
                <a:latin typeface="Aptos"/>
              </a:rPr>
              <a:t>Self-training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419856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9D6C9"/>
                </a:solidFill>
                <a:latin typeface="Aptos"/>
              </a:rPr>
              <a:t>条件成立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383280"/>
            <a:ext cx="2560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DDEBFA"/>
                </a:solidFill>
                <a:latin typeface="Aptos"/>
              </a:rPr>
              <a:t>需形成可持续、可保留的能力闭环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4096512"/>
            <a:ext cx="5715000" cy="731520"/>
          </a:xfrm>
          <a:prstGeom prst="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242816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6FBFF"/>
                </a:solidFill>
                <a:latin typeface="Aptos"/>
              </a:rPr>
              <a:t>Agent 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242816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9D6C9"/>
                </a:solidFill>
                <a:latin typeface="Aptos"/>
              </a:rPr>
              <a:t>通常否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206240"/>
            <a:ext cx="2560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DDEBFA"/>
                </a:solidFill>
                <a:latin typeface="Aptos"/>
              </a:rPr>
              <a:t>一次反思但不改变未来系统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4919472"/>
            <a:ext cx="5715000" cy="731520"/>
          </a:xfrm>
          <a:prstGeom prst="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5065776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6FBFF"/>
                </a:solidFill>
                <a:latin typeface="Aptos"/>
              </a:rPr>
              <a:t>Self-modifying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065776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9D6C9"/>
                </a:solidFill>
                <a:latin typeface="Aptos"/>
              </a:rPr>
              <a:t>强相关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5029200"/>
            <a:ext cx="2560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DDEBFA"/>
                </a:solidFill>
                <a:latin typeface="Aptos"/>
              </a:rPr>
              <a:t>改变可执行策略且经验证保留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MINIMUM VIABLE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最小闭环需要提出、执行、评估、保留四个动作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377440"/>
            <a:ext cx="3017520" cy="3017520"/>
          </a:xfrm>
          <a:prstGeom prst="ellipse">
            <a:avLst/>
          </a:prstGeom>
          <a:noFill/>
          <a:ln w="1905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17627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227685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PROPOSE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7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EXECUTE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519379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529437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3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RETAIN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30168"/>
            <a:ext cx="1371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49D6C9"/>
                </a:solidFill>
                <a:latin typeface="Aptos Display"/>
              </a:rPr>
              <a:t>Δ &gt;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00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746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30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产生 prompt、数据、代码、架构或训练策略候选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743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889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273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隔离环境运行候选，记录完整 trajectory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886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4032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Verifier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4416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隐藏任务、单元测试或真实 KPI 判断净提升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5029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3872" y="5175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5559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综合性能、成本、安全后接受或回滚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RSI MATURITY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从 L0 工具使用到 L5 开放式递归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4754880"/>
            <a:ext cx="1673352" cy="1143000"/>
          </a:xfrm>
          <a:prstGeom prst="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90118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394960"/>
            <a:ext cx="13716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固定模型
人工升级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4206240"/>
            <a:ext cx="1673352" cy="1691640"/>
          </a:xfrm>
          <a:prstGeom prst="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435254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4846320"/>
            <a:ext cx="137160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会话反思
不持久化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3657600"/>
            <a:ext cx="1673352" cy="2240280"/>
          </a:xfrm>
          <a:prstGeom prst="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80390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297680"/>
            <a:ext cx="1371600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持久化 prompt / memory /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3108960"/>
            <a:ext cx="1673352" cy="2788920"/>
          </a:xfrm>
          <a:prstGeom prst="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25526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749040"/>
            <a:ext cx="1371600" cy="2039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改写代码、工具与数据管线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2560320"/>
            <a:ext cx="1673352" cy="3337560"/>
          </a:xfrm>
          <a:prstGeom prst="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270662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3200400"/>
            <a:ext cx="1371600" cy="2587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改写训练配方、学习器与架构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19" y="2011680"/>
            <a:ext cx="1673352" cy="3886200"/>
          </a:xfrm>
          <a:prstGeom prst="rect">
            <a:avLst/>
          </a:prstGeom>
          <a:solidFill>
            <a:srgbClr val="132238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2157984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651760"/>
            <a:ext cx="1371600" cy="3136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>
                <a:solidFill>
                  <a:srgbClr val="DDEBFA"/>
                </a:solidFill>
                <a:latin typeface="Aptos"/>
              </a:rPr>
              <a:t>跨域开放式递归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七条路径共享同一个瓶颈：验证器是否可信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72768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04"/>
                <a:gridCol w="2203704"/>
                <a:gridCol w="2203704"/>
                <a:gridCol w="2203704"/>
                <a:gridCol w="2203704"/>
              </a:tblGrid>
              <a:tr h="56578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路线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改进对象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典型反馈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当前成熟度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主要瓶颈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Prompt / Context Optimization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指令、示例、检索上下文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离线 benchmark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过拟合与可迁移性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Synthetic Self-Training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训练数据与偏好对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模型/规则 judge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模型坍缩、误差循环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Test-time Search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推理轨迹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verifier / reward model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算力成本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Agentic Workflow RSI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工具、记忆、流程图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端到端任务 KPI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长程信用分配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Code / Algorithm Evolution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程序、算法、系统配置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编译、测试、性能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搜索空间与安全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Training / Architecture AutoML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优化器、配方、模型结构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验证损失/下游能力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中低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每轮成本极高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Multi-agent Open-ended Evolution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角色、种群、环境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生态适应度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早期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目标漂移与不可控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Prompt 与 Context 自优化：最低成本的 RSI 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prompt、few-shot examples、retrieval policy 编码为可搜索对象；由 LLM 提案，自动评测后保留优胜版本。 OPRO DSPy PromptBreeder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无需改权重，迭代快 验证成本低，容易 A/B 适合企业私有任务 落地性 8.8 /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能力上限受基础模型约束 易对固定评测集过拟合 上下文变长导致成本上升 递归深度 4.5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合成数据与自训练：用模型产出扩大自己的学习边界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377440"/>
            <a:ext cx="3017520" cy="3017520"/>
          </a:xfrm>
          <a:prstGeom prst="ellipse">
            <a:avLst/>
          </a:prstGeom>
          <a:noFill/>
          <a:ln w="1905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17627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227685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7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CRITIQUE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519379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529437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TRAIN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3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30168"/>
            <a:ext cx="1371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49D6C9"/>
                </a:solidFill>
                <a:latin typeface="Aptos Display"/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00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746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代表范式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30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Self-Instruct、STaR、Constitutional AI、Self-Rewarding LMs、RLAIF。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743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889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成立条件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273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生成器与验证器存在能力差异；规则、工具或真实反馈提供增量信息。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886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4032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主要风险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4416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错误放大、模式收缩、数据血缘不清与评判器偏差。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推理时搜索：把一次回答变成候选生成与选择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优点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不改权重即可提升；数学、代码等可验证任务收益明确；轨迹可反哺训练。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推理成本线性或超线性增加；verifier 误差决定上限；不是持久化自我提升。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RSI 连接点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当优胜轨迹进入训练、搜索策略被持续改写，才从 test-time scaling 迈向 RSI。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投资入口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高质量 verifier、任务沙箱、推理编排、缓存与成本优化。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Agentic Workflow RSI：让智能体改写自己的工作方式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采集轨迹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OBSERVE 采集轨迹 任务、工具调用、错误、时延、成本与人工反馈。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定位瓶颈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DIAGNOSE 定位瓶颈 检索失败、规划错误、工具选择或 memory 污染。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改写系统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REWRITE 改写系统 更新 agent graph、工具、prompt、memory schema 或代码。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灰度验证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CANARY 灰度验证 隐藏任务回归，达标后部署；失败即回滚。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要点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这是最可能先形成商业护城河的路径： 改进发生在系统层，反馈来自真实业务。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代码、算法与系统自改写：可执行验证创造强反馈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代表方案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AlphaDev、FunSearch、AlphaEvolve、Darwin Gödel Machine、SICA 类 self-improving coding agents。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为何进展快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程序可编译、可测试、可 benchmark；反馈密度远高于开放式自然语言任务。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“在 benchmark 上更快”不等于跨任务智能提升；安全审计与供应链风险不可省。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训练配方与架构 AutoML：最接近“改进学习器”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潜力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直接改变“如何学习”，理论递归深度高；可能发现人类未设计的训练算法。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现实约束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每个候选都可能需要大规模训练；实验并行昂贵，噪声与复现困难。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代表脉络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Neural Architecture Search、Population Based Training、learned optimizers、自动 curriculum。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投资判断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更可能被前沿实验室内化；外部机会在低成本代理评测与训练基础设施。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多智能体演化：用种群与环境维持开放式创新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种群多样性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POP 种群多样性 多个策略、角色和模型并行探索，避免单一路径早熟收敛。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环境共演化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ENV 环境共演化 任务生成器持续提高难度，让能力边界与挑战共同前移。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选择压力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SEL 选择压力 多目标适应度同时考虑能力、成本、安全与新颖性。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理论吸引力：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最接近 open-ended evolution。 工程风险： 目标难以形式化，生态内胜出不等于现实价值；欺骗性策略更难发现。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ROUTE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验证成本决定商业化速度，而非“递归”叙事强度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72768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20"/>
                <a:gridCol w="1836420"/>
                <a:gridCol w="1836420"/>
                <a:gridCol w="1836420"/>
                <a:gridCol w="1836420"/>
                <a:gridCol w="1836420"/>
              </a:tblGrid>
              <a:tr h="56578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路径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可验证性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迭代成本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递归深度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近端商业化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长期潜力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Prompt / Context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低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Synthetic Self-Training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Test-time Search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Agentic Workflow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Code / Algorithm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中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Training / Architecture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极高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Open-ended Evolution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●○○○○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高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●○○○○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●●●●●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CORE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改进信号常常比生成本身更稀缺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Evaluator hacking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系统优化评测代理而非真实目标；越多轮递归，偏差累积越快。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Credit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长链任务失败难以归因到 prompt、memory、tool 或模型哪个变化。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Information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纯自生成闭环不引入外部信息时，容易重组已有模式而非创造新知识。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Distribution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在固定 benchmark 提升，不保证真实世界与下一代任务提升。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THEORETICAL BARRIERS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单调提升、分布外泛化与收益递减均无保证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一 · 非单调性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局部改进可能破坏其他能力；多目标性能没有天然全序关系。 catastrophic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二 · 自参照限制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系统无法轻易证明比自身更强的修改在所有未来情境下安全有效。 verification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三 · 边际递减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早期“低垂果实”被采完后，搜索空间扩大、每次净提升趋小。 diminishing returns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要点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现实 RSI 更可能是 阶梯式、带回退、受预算约束 ，而不是指数爆炸的平滑曲线。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ENGINEERING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反馈回路会放大评测污染与基础设施脆弱性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评测污染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训练与隐藏测试边界失守，系统学会题库而非能力。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版本漂移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模型、工具、依赖同时变化，难以重现实验与定位退化。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沙箱逃逸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自改写代码需要更强权限，扩大供应链与执行风险。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成本失控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候选×评测×重试形成乘法，单位改进成本快速上升。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FILE ·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Darwin Gödel Machine：以开放式演化改写 Coding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MAY 2025 · ARXIV:2505.22954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Darwin Gödel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Sakana AI · University of British Columbia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https://arxiv.org/abs/2505.22954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让 agent 读取并修改自己的代码，以 archive 保存多样候选，再用 coding benchmark 选择后代。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Darwinian search + self-referential code modification；不是单一路径爬山，而是保留质量与多样性。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将 Gödel Machine 的自修改愿景转化为可运行的开放式工程循环，并报告跨模型/任务改进。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将 Gödel Machine 的自修改愿景转化为可运行的开放式工程循环，并报告跨模型/任务改进。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RSI 含义： 展示 L3 级“系统代码自改写”证据；但依赖外部 benchmark、基础模型与人工定义的适应度，尚非自主 L4/L5。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/ SYSTEM FILE ·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AlphaEvolve：LLM 提案与自动评测器结合的算法发现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MAY 2025 · GOOGLE DEEPMIND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AlphaEvolve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Google DeepMind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https://deepmind.google/discover/blog/alphaevolve-a-gemini-powered-coding-agent-for-designing-advanced-algorithms/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Gemini 生成程序变体，自动 evaluator 打分，演化框架迭代筛选；应用于数据中心、芯片与数学算法。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把“可执行程序”作为搜索基因；利用强 evaluator 进行大规模、可重复选择。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FunSearch 扩展到更一般的算法与 Google 内部真实系统，强调可验证经济价值。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FunSearch 扩展到更一般的算法与 Google 内部真实系统，强调可验证经济价值。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RSI 含义： 证明窄域 code evolution 的产业价值；最关键资产不是单次生成，而是 evaluator、历史候选库和部署接口。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FILE ·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A Self-Improving Coding Agent：Agent 直接编辑自身系统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APR 2025 · ARXIV:2504.15228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A Self-Improving Coding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University of Bristol · Microsoft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https://arxiv.org/abs/2504.15228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赋予 Agent 基础编码工具，使其通过反思、代码改写和基准反馈自主编辑自身 Agent 系统，无需梯度更新。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从 prompt tuning 升级到 architecture、tool 与 control-flow modification，并将优胜版本持久化。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agent scaffold 视为可进化软件；论文报告 SWE-bench Verified 子集由 17% 提升至 53%。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agent scaffold 视为可进化软件；论文报告 SWE-bench Verified 子集由 17% 提升至 53%。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证据边界： 实验规模有限，修改的是 Agent scaffolding 而非基础模型权重；投稿 NeurIPS 2025 不等于已录用。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FILE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Recursive Harness Self-Improvement：递归改写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JUL 2026 · ARXIV:2607.15524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Recursive Harness Self-Improvement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Stanford University · collaborators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https://arxiv.org/abs/2607.15524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将 harness 表示成提示级执行规范，根据历代版本的成对反馈反复改写信息流与执行策略。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优化对象不是答案，而是组织模型、工具与上下文的 harness；历史版本构成递归训练信号。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直接研究“改进改进机制”，并在合成 ML 研究任务上报告质量与推理成本收益。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直接研究“改进改进机制”，并在合成 ML 研究任务上报告质量与推理成本收益。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RSI 含义： 从 prompt tuning 迈向系统控制面自修改；仍未训练下一代基础模型，外部任务与反馈保持固定。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FILE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HELIX：模型与 Harness 共演化的显式 RSI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AUG 2026 · ARXIV:2608.13951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HELIX: Model–Harness Co-evolution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HKU Data Intelligence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https://arxiv.org/abs/2608.13951 · github.com/HKUDS/HELIX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进化 ports、atoms、recipes、shells 与 policies，同时将成功、失败和近失轨迹转为下一轮模型训练数据。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harness 改进产生轨迹，轨迹更新模型，模型再提出更好的 harness；形成双向飞轮。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model–harness–data 三层统一进同一递归架构，强调可追踪组件与数据血缘。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把 model–harness–data 三层统一进同一递归架构，强调可追踪组件与数据血缘。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证据边界： 论文仅评估一个代码修复进化轮；“多轮共演化”仍是待验证主张，不等于已实现开放式 RSI。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PAPER FILE ·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Absolute Zero：零人工题目的强化自博弈推理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657600" cy="4526280"/>
          </a:xfrm>
          <a:prstGeom prst="roundRect">
            <a:avLst/>
          </a:prstGeom>
          <a:solidFill>
            <a:srgbClr val="1B304C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Courier New"/>
              </a:rPr>
              <a:t>MAY 2025 · ARXIV:2505.03335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63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6FBFF"/>
                </a:solidFill>
                <a:latin typeface="Aptos Display"/>
              </a:rPr>
              <a:t>Absolute Zero Reasoner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8FA7C2"/>
                </a:solidFill>
                <a:latin typeface="Aptos"/>
              </a:rPr>
              <a:t>Tsinghua University · Peking University · collaborators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8FA7C2"/>
                </a:solidFill>
                <a:latin typeface="Courier New"/>
              </a:rPr>
              <a:t>https://arxiv.org/abs/2505.03335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812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6FBFF"/>
                </a:solidFill>
                <a:latin typeface="Aptos"/>
              </a:rPr>
              <a:t>模型同时扮演出题者与解题者，代码执行器提供可验证奖励，自主演化课程与推理能力。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用可执行环境替代人工题库，让任务难度随能力自动变化，形成 curriculum self-play。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4612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88950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273552"/>
            <a:ext cx="291693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展示“零外部训练题”仍可获得能力增益；新信息来自程序执行，而非模型内部自洽。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89504"/>
            <a:ext cx="3008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73552"/>
            <a:ext cx="300837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展示“零外部训练题”仍可获得能力增益；新信息来自程序执行，而非模型内部自洽。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434840"/>
            <a:ext cx="6812280" cy="132588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81144"/>
            <a:ext cx="6483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ptos"/>
              </a:rPr>
              <a:t>研究判断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965192"/>
            <a:ext cx="6483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RSI 含义： 是 Synthetic Self-Training 的强证据；环境、奖励与模型架构仍由人固定，尚非系统级自修改。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GLOBAL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基础模型实验室控制算力与闭环入口，开源层争夺编排与评测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前沿模型实验室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Google DeepMind ：AlphaEvolve、FunSearch、AlphaDev OpenAI ：reasoning + RL、Codex/agent evaluation Anthropic ：Constitutional AI、RLAIF、agent safety/evals Meta FAIR ：Self-Rewarding LMs、open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独立 AGI / 研究实验室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Sakana AI ：Darwin Gödel Machine、evolutionary model merging FutureHouse ：科学研究 agents Imbue / METR ：agent capability 与自主性评测 Conjecture / ARC Prize ：安全与泛化研究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高校与开源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UBC / Stanford / MIT / Berkeley ：agent design、meta-learning、program synthesis DSPy ：LM program optimization OpenHands / SWE-agent ：可改写 coding scaffolds Inspect / lm-eval ：评测基础设施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竞争轴：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基础模型能力 × 可执行环境 × 私有 trajectory × evaluator × 部署权限。仅有 agent UI 的壁垒最低。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CHINA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中国优势在开源模型、代码智能体与高频应用闭环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72768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90525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类型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玩家 / 项目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RSI 相关抓手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观察重点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基础模型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DeepSeek、阿里 Qwen、智谱 GLM、字节豆包、百度文心、腾讯混元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推理模型、合成数据、RL、工具使用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训练数据闭环与真实部署反馈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开源 Agent / Coding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OpenManus、MetaGPT、ChatDev、Qwen-Agent、AgentScope、XAgent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workflow、multi-agent、tool use、memory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是否具备持久化自改写与隐藏回归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高校实验室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清华 KEG / THUDM、北大、上交、浙大、港科大、OpenBMB 社区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agent learning、AutoML、self-play、评测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论文到可复现系统的转化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应用平台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代码、客服、营销、科研、游戏与机器人厂商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真实 KPI 与在线 trajectory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闭环数据权、沙箱、可回滚上线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先垂直可验证，再跨任务迁移，最后元级递归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8FA7C2"/>
                </a:solidFill>
                <a:latin typeface="Courier New"/>
              </a:rPr>
              <a:t>2025–2027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受约束闭环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37560"/>
            <a:ext cx="2971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代码、数学、芯片、实验设计；prompt/workflow/code 级改进；人工设定目标与预算。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429000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8FA7C2"/>
                </a:solidFill>
                <a:latin typeface="Courier New"/>
              </a:rPr>
              <a:t>2027–2030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468880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跨任务迁移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337560"/>
            <a:ext cx="2971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共享 memory 与 skills；改进策略迁移到相邻任务；自动构建 evaluator。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29000" cy="4434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8FA7C2"/>
                </a:solidFill>
                <a:latin typeface="Courier New"/>
              </a:rPr>
              <a:t>2030+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468880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6FBFF"/>
                </a:solidFill>
                <a:latin typeface="Aptos"/>
              </a:rPr>
              <a:t>元级递归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37560"/>
            <a:ext cx="2971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DEBFA"/>
                </a:solidFill>
                <a:latin typeface="Aptos"/>
              </a:rPr>
              <a:t>改写训练算法与架构，开放式生成新目标；需要更强形式化保证与治理。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VC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把“可验证改进率”置于 Demo 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72768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56578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尽调问题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9D6C9"/>
                          </a:solidFill>
                          <a:latin typeface="Aptos"/>
                        </a:defRPr>
                      </a:pPr>
                      <a:r>
                        <a:t>权重</a:t>
                      </a:r>
                    </a:p>
                  </a:txBody>
                  <a:tcPr marL="54864" marR="54864">
                    <a:solidFill>
                      <a:srgbClr val="1B304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改进是否通过隐藏、分布外测试？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每单位改进的算力 / 人工成本？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改进能否跨任务、跨模型迁移？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trajectory / evaluator 数据是否专有？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是否可回滚、可审计、权限隔离？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价值是否依赖单一基础模型？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线上 KPI 是否持续而非一次性？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DDEBF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54864" marR="54864">
                    <a:solidFill>
                      <a:srgbClr val="13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最可能胜出的是混合式、受约束的 Agentic RSI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为什么不是单一路线？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Prompt 优化快但上限低；纯自训练易坍缩；架构 AutoML 潜力高但成本过大。混合路径把不同反馈源组合起来。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开放问题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如何证明长期净提升？如何自动生成可靠 evaluator？如何避免系统学会操纵反馈？谁拥有改进后的模型与数据？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436168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核心结论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3703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可验证性是 RSI 的第一性资产，递归深度是第二性期权。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APPENDIX A · AGENTIC RSI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智能体闭环自我优化：核心是版本化系统，而非“反思”提示词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1 ·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记录任务分布、完整轨迹、工具结果、人工介入与成本。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2 · 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使用 failure taxonomy 将错误归因到 plan / memory / tool / model。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7276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7190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3 · Mutate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0312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生成 prompt、agent graph、代码、memory policy 的小步变更。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4 · Govern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沙箱测试、隐藏回归、风险预算、canary、自动回滚。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最佳落地场景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软件工程、SOC 安全运营、数据分析、科研流程、客服质检。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835908"/>
            <a:ext cx="3493008" cy="2098548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398221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关键指标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366260"/>
            <a:ext cx="3163824" cy="14401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gain / 1K trajectories、regression rate、human takeover、cost per accepted change。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0175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Courier New"/>
              </a:rPr>
              <a:t>APPENDIX B · SYNTHETIC SELF-TRAINING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1264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6FBFF"/>
                </a:solidFill>
                <a:latin typeface="Aptos"/>
              </a:rPr>
              <a:t>合成数据自训练：只有引入新信息，飞轮才不会变成回音室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8FA7C2"/>
                </a:solidFill>
                <a:latin typeface="Courier New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52728"/>
            <a:ext cx="11018520" cy="7315"/>
          </a:xfrm>
          <a:prstGeom prst="rect">
            <a:avLst/>
          </a:prstGeom>
          <a:solidFill>
            <a:srgbClr val="29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377440"/>
            <a:ext cx="3017520" cy="3017520"/>
          </a:xfrm>
          <a:prstGeom prst="ellipse">
            <a:avLst/>
          </a:prstGeom>
          <a:noFill/>
          <a:ln w="1905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17627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227685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7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5193792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5294376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39" y="3675887"/>
            <a:ext cx="1188720" cy="420624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49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776472"/>
            <a:ext cx="11338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49D6C9"/>
                </a:solidFill>
                <a:latin typeface="Courier New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30168"/>
            <a:ext cx="1371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49D6C9"/>
                </a:solidFill>
                <a:latin typeface="Aptos Display"/>
              </a:rPr>
              <a:t>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00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746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可靠信息源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30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代码执行、证明检查、模拟器、检索事实、人类偏好、真实业务结果。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743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889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防坍缩设计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273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保留真实数据锚点；追踪血缘；按不确定性采样；周期性外部校准。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886200"/>
            <a:ext cx="5715000" cy="1005840"/>
          </a:xfrm>
          <a:prstGeom prst="roundRect">
            <a:avLst/>
          </a:prstGeom>
          <a:solidFill>
            <a:srgbClr val="132238"/>
          </a:solidFill>
          <a:ln w="10160">
            <a:solidFill>
              <a:srgbClr val="2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4032504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9D6C9"/>
                </a:solidFill>
                <a:latin typeface="Aptos"/>
              </a:rPr>
              <a:t>投资判断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4416552"/>
            <a:ext cx="5385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DDEBFA"/>
                </a:solidFill>
                <a:latin typeface="Aptos"/>
              </a:rPr>
              <a:t>价值在高熵任务生成 + 低偏差验证 + 训练归因的完整供应链。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递归自我提升：硅谷前沿与投资研究</dc:title>
  <dc:subject>面向VC与AI行业从业者的30页行业投资研究</dc:subject>
  <dc:creator>DeepSeek Harness</dc:creator>
  <cp:keywords>RSI, Recursive Self-Improvement, Agentic RSI, Synthetic Self-Training, VC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